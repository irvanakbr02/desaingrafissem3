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D4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19"/>
    <p:restoredTop sz="93692"/>
  </p:normalViewPr>
  <p:slideViewPr>
    <p:cSldViewPr snapToGrid="0" snapToObjects="1">
      <p:cViewPr>
        <p:scale>
          <a:sx n="54" d="100"/>
          <a:sy n="54" d="100"/>
        </p:scale>
        <p:origin x="211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834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752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851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118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338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34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415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73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9/29/20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687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994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46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9/29/20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608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books.google.co.id/books?id=K7lbFHVt6AAC&amp;pg=SA2-PA1&amp;hl=id&amp;source=gbs_toc_r&amp;cad=4#v=onepage&amp;q&amp;f=fals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B411-F958-BF4C-9DA6-48B653107F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Grafis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D94ED-BED5-C947-8417-C7BC27907E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cap="none" dirty="0" err="1"/>
              <a:t>Disusun</a:t>
            </a:r>
            <a:r>
              <a:rPr lang="en-US" sz="1800" cap="none" dirty="0"/>
              <a:t> Oleh: </a:t>
            </a:r>
            <a:r>
              <a:rPr lang="en-US" sz="1800" cap="none" dirty="0" err="1"/>
              <a:t>Prasetyo</a:t>
            </a:r>
            <a:r>
              <a:rPr lang="en-US" sz="1800" cap="none" dirty="0"/>
              <a:t> </a:t>
            </a:r>
            <a:r>
              <a:rPr lang="en-US" sz="1800" cap="none" dirty="0" err="1"/>
              <a:t>Bm</a:t>
            </a:r>
            <a:r>
              <a:rPr lang="en-US" sz="1800" cap="none" dirty="0"/>
              <a:t>, </a:t>
            </a:r>
            <a:r>
              <a:rPr lang="en-US" sz="1800" cap="none" dirty="0" err="1"/>
              <a:t>S.Sos</a:t>
            </a:r>
            <a:r>
              <a:rPr lang="en-US" sz="1800" cap="none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240A1A-5AE1-C942-BF30-8470954FE7D0}"/>
              </a:ext>
            </a:extLst>
          </p:cNvPr>
          <p:cNvSpPr/>
          <p:nvPr/>
        </p:nvSpPr>
        <p:spPr>
          <a:xfrm>
            <a:off x="2379386" y="396921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Program </a:t>
            </a:r>
            <a:r>
              <a:rPr lang="en-US" dirty="0" err="1"/>
              <a:t>Sarjana</a:t>
            </a:r>
            <a:r>
              <a:rPr lang="en-US" dirty="0"/>
              <a:t> </a:t>
            </a:r>
            <a:r>
              <a:rPr lang="en-US" dirty="0" err="1"/>
              <a:t>Terapan</a:t>
            </a:r>
            <a:r>
              <a:rPr lang="en-US" dirty="0"/>
              <a:t> Teknik </a:t>
            </a:r>
            <a:r>
              <a:rPr lang="en-US" dirty="0" err="1"/>
              <a:t>Informatika</a:t>
            </a:r>
            <a:r>
              <a:rPr lang="en-US" dirty="0"/>
              <a:t> </a:t>
            </a:r>
            <a:r>
              <a:rPr lang="en-US" dirty="0" err="1"/>
              <a:t>Politeknik</a:t>
            </a:r>
            <a:r>
              <a:rPr lang="en-US" dirty="0"/>
              <a:t> </a:t>
            </a:r>
            <a:r>
              <a:rPr lang="en-US" dirty="0" err="1"/>
              <a:t>Harapan</a:t>
            </a:r>
            <a:r>
              <a:rPr lang="en-US" dirty="0"/>
              <a:t> Bersama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528023-ACD5-7345-98E2-D2334BD6C02F}"/>
              </a:ext>
            </a:extLst>
          </p:cNvPr>
          <p:cNvSpPr/>
          <p:nvPr/>
        </p:nvSpPr>
        <p:spPr>
          <a:xfrm>
            <a:off x="2379386" y="5241033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Tata </a:t>
            </a:r>
            <a:r>
              <a:rPr lang="en-US" dirty="0" err="1"/>
              <a:t>Letak</a:t>
            </a:r>
            <a:r>
              <a:rPr lang="en-US" dirty="0"/>
              <a:t> &amp; </a:t>
            </a:r>
            <a:r>
              <a:rPr lang="en-US" dirty="0" err="1"/>
              <a:t>Grafis</a:t>
            </a:r>
            <a:r>
              <a:rPr lang="en-US" dirty="0"/>
              <a:t> Oleh:</a:t>
            </a:r>
          </a:p>
        </p:txBody>
      </p:sp>
    </p:spTree>
    <p:extLst>
      <p:ext uri="{BB962C8B-B14F-4D97-AF65-F5344CB8AC3E}">
        <p14:creationId xmlns:p14="http://schemas.microsoft.com/office/powerpoint/2010/main" val="4097824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00D8B-9C4F-D844-97ED-8AB24818A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Desain</a:t>
            </a:r>
            <a:r>
              <a:rPr lang="en-ID" b="1" dirty="0"/>
              <a:t> </a:t>
            </a:r>
            <a:r>
              <a:rPr lang="en-ID" b="1" dirty="0" err="1"/>
              <a:t>grafis</a:t>
            </a:r>
            <a:r>
              <a:rPr lang="en-ID" dirty="0"/>
              <a:t> 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rancang</a:t>
            </a:r>
            <a:r>
              <a:rPr lang="en-ID" dirty="0"/>
              <a:t> </a:t>
            </a:r>
            <a:r>
              <a:rPr lang="en-ID" b="1" dirty="0" err="1"/>
              <a:t>grafis</a:t>
            </a:r>
            <a:r>
              <a:rPr lang="en-ID" dirty="0"/>
              <a:t> </a:t>
            </a:r>
            <a:r>
              <a:rPr lang="en-ID" dirty="0" err="1"/>
              <a:t>adalah</a:t>
            </a:r>
            <a:r>
              <a:rPr lang="en-ID" dirty="0"/>
              <a:t> proses </a:t>
            </a:r>
            <a:r>
              <a:rPr lang="en-ID" dirty="0" err="1"/>
              <a:t>komunikasi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visual,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tipografi</a:t>
            </a:r>
            <a:r>
              <a:rPr lang="en-ID" dirty="0"/>
              <a:t>, </a:t>
            </a:r>
            <a:r>
              <a:rPr lang="en-ID" dirty="0" err="1"/>
              <a:t>fotografi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ilustrasi</a:t>
            </a:r>
            <a:r>
              <a:rPr lang="en-ID" dirty="0"/>
              <a:t> yang </a:t>
            </a:r>
            <a:r>
              <a:rPr lang="en-ID" dirty="0" err="1"/>
              <a:t>dimaksudkan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menciptakan</a:t>
            </a:r>
            <a:r>
              <a:rPr lang="en-ID" dirty="0"/>
              <a:t> </a:t>
            </a:r>
            <a:r>
              <a:rPr lang="en-ID" dirty="0" err="1"/>
              <a:t>persepsi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pesan</a:t>
            </a:r>
            <a:r>
              <a:rPr lang="en-ID" dirty="0"/>
              <a:t> yang </a:t>
            </a:r>
            <a:r>
              <a:rPr lang="en-ID" dirty="0" err="1"/>
              <a:t>disampaikan</a:t>
            </a:r>
            <a:r>
              <a:rPr lang="en-ID" dirty="0"/>
              <a:t>. </a:t>
            </a:r>
            <a:r>
              <a:rPr lang="en-ID" dirty="0" err="1"/>
              <a:t>Bidang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melibatkan</a:t>
            </a:r>
            <a:r>
              <a:rPr lang="en-ID" dirty="0"/>
              <a:t> proses </a:t>
            </a:r>
            <a:r>
              <a:rPr lang="en-ID" dirty="0" err="1"/>
              <a:t>komunikasi</a:t>
            </a:r>
            <a:r>
              <a:rPr lang="en-ID" dirty="0"/>
              <a:t> visual </a:t>
            </a:r>
            <a:r>
              <a:rPr lang="en-ID" dirty="0" err="1"/>
              <a:t>dan</a:t>
            </a:r>
            <a:r>
              <a:rPr lang="en-ID" dirty="0"/>
              <a:t> </a:t>
            </a:r>
            <a:r>
              <a:rPr lang="en-ID" b="1" dirty="0" err="1"/>
              <a:t>desain</a:t>
            </a:r>
            <a:r>
              <a:rPr lang="en-ID" dirty="0"/>
              <a:t> </a:t>
            </a:r>
            <a:r>
              <a:rPr lang="en-ID" dirty="0" err="1"/>
              <a:t>komunikasi</a:t>
            </a:r>
            <a:r>
              <a:rPr lang="en-ID" dirty="0"/>
              <a:t>. (Wikipedia)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5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4588-71DA-EB47-AFFC-88F08CF3F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Pengertian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Grafis</a:t>
            </a:r>
            <a:br>
              <a:rPr lang="en-ID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B23E8-8AFA-EA4B-9336-0992EC115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Pengertian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grafis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 </a:t>
            </a:r>
            <a:r>
              <a:rPr lang="en-US" dirty="0" err="1"/>
              <a:t>kreatif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menciptakan</a:t>
            </a:r>
            <a:r>
              <a:rPr lang="en-US" dirty="0"/>
              <a:t> </a:t>
            </a:r>
            <a:r>
              <a:rPr lang="en-US" dirty="0" err="1"/>
              <a:t>karya</a:t>
            </a:r>
            <a:r>
              <a:rPr lang="en-US" dirty="0"/>
              <a:t> yang </a:t>
            </a:r>
            <a:r>
              <a:rPr lang="en-US" dirty="0" err="1"/>
              <a:t>fungsional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estetis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media yang proses </a:t>
            </a:r>
            <a:r>
              <a:rPr lang="en-US" dirty="0" err="1"/>
              <a:t>komunikasinya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mengandalkan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, </a:t>
            </a:r>
            <a:r>
              <a:rPr lang="en-US" dirty="0" err="1"/>
              <a:t>justru</a:t>
            </a:r>
            <a:r>
              <a:rPr lang="en-US" dirty="0"/>
              <a:t> </a:t>
            </a:r>
            <a:r>
              <a:rPr lang="en-US" dirty="0" err="1"/>
              <a:t>cenderung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unsur</a:t>
            </a:r>
            <a:r>
              <a:rPr lang="en-US" dirty="0"/>
              <a:t> visual. </a:t>
            </a:r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grafis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proses (kata </a:t>
            </a:r>
            <a:r>
              <a:rPr lang="en-US" dirty="0" err="1"/>
              <a:t>kerja</a:t>
            </a:r>
            <a:r>
              <a:rPr lang="en-US" dirty="0"/>
              <a:t>) </a:t>
            </a:r>
            <a:r>
              <a:rPr lang="en-US" dirty="0" err="1"/>
              <a:t>sekaligus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proses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(kata </a:t>
            </a:r>
            <a:r>
              <a:rPr lang="en-US" dirty="0" err="1"/>
              <a:t>benda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835823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E2211-D16E-4C41-8434-178BE288C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757" y="1011677"/>
            <a:ext cx="7791857" cy="5642041"/>
          </a:xfrm>
        </p:spPr>
        <p:txBody>
          <a:bodyPr>
            <a:normAutofit fontScale="40000" lnSpcReduction="20000"/>
          </a:bodyPr>
          <a:lstStyle/>
          <a:p>
            <a:pPr marL="0" indent="0" fontAlgn="base">
              <a:buNone/>
            </a:pPr>
            <a:r>
              <a:rPr lang="en-ID" sz="4650" dirty="0" err="1"/>
              <a:t>Desain</a:t>
            </a:r>
            <a:r>
              <a:rPr lang="en-ID" sz="4650" dirty="0"/>
              <a:t> </a:t>
            </a:r>
            <a:r>
              <a:rPr lang="en-ID" sz="4650" dirty="0" err="1"/>
              <a:t>grafis</a:t>
            </a:r>
            <a:r>
              <a:rPr lang="en-ID" sz="4650" dirty="0"/>
              <a:t> </a:t>
            </a:r>
            <a:r>
              <a:rPr lang="en-ID" sz="4650" dirty="0" err="1"/>
              <a:t>lebih</a:t>
            </a:r>
            <a:r>
              <a:rPr lang="en-ID" sz="4650" dirty="0"/>
              <a:t> </a:t>
            </a:r>
            <a:r>
              <a:rPr lang="en-ID" sz="4650" dirty="0" err="1"/>
              <a:t>dari</a:t>
            </a:r>
            <a:r>
              <a:rPr lang="en-ID" sz="4650" dirty="0"/>
              <a:t> </a:t>
            </a:r>
            <a:r>
              <a:rPr lang="en-ID" sz="4650" dirty="0" err="1"/>
              <a:t>apa</a:t>
            </a:r>
            <a:r>
              <a:rPr lang="en-ID" sz="4650" dirty="0"/>
              <a:t> yang </a:t>
            </a:r>
            <a:r>
              <a:rPr lang="en-ID" sz="4650" dirty="0" err="1"/>
              <a:t>telah</a:t>
            </a:r>
            <a:r>
              <a:rPr lang="en-ID" sz="4650" dirty="0"/>
              <a:t> </a:t>
            </a:r>
            <a:r>
              <a:rPr lang="en-ID" sz="4650" dirty="0" err="1"/>
              <a:t>dijelaskan</a:t>
            </a:r>
            <a:r>
              <a:rPr lang="en-ID" sz="4650" dirty="0"/>
              <a:t> </a:t>
            </a:r>
            <a:r>
              <a:rPr lang="en-ID" sz="4650" dirty="0" err="1"/>
              <a:t>diatas</a:t>
            </a:r>
            <a:r>
              <a:rPr lang="en-ID" sz="4650" dirty="0"/>
              <a:t>. </a:t>
            </a:r>
            <a:r>
              <a:rPr lang="en-ID" sz="4650" dirty="0" err="1"/>
              <a:t>Pengertian</a:t>
            </a:r>
            <a:r>
              <a:rPr lang="en-ID" sz="4650" dirty="0"/>
              <a:t> </a:t>
            </a:r>
            <a:r>
              <a:rPr lang="en-ID" sz="4650" dirty="0" err="1"/>
              <a:t>desain</a:t>
            </a:r>
            <a:r>
              <a:rPr lang="en-ID" sz="4650" dirty="0"/>
              <a:t> </a:t>
            </a:r>
            <a:r>
              <a:rPr lang="en-ID" sz="4650" dirty="0" err="1"/>
              <a:t>grafis</a:t>
            </a:r>
            <a:r>
              <a:rPr lang="en-ID" sz="4650" dirty="0"/>
              <a:t> </a:t>
            </a:r>
            <a:r>
              <a:rPr lang="en-ID" sz="4650" dirty="0" err="1"/>
              <a:t>terus</a:t>
            </a:r>
            <a:r>
              <a:rPr lang="en-ID" sz="4650" dirty="0"/>
              <a:t> </a:t>
            </a:r>
            <a:r>
              <a:rPr lang="en-ID" sz="4650" dirty="0" err="1"/>
              <a:t>berkembang</a:t>
            </a:r>
            <a:r>
              <a:rPr lang="en-ID" sz="4650" dirty="0"/>
              <a:t> </a:t>
            </a:r>
            <a:r>
              <a:rPr lang="en-ID" sz="4650" dirty="0" err="1"/>
              <a:t>mengikuti</a:t>
            </a:r>
            <a:r>
              <a:rPr lang="en-ID" sz="4650" dirty="0"/>
              <a:t> </a:t>
            </a:r>
            <a:r>
              <a:rPr lang="en-ID" sz="4650" dirty="0" err="1"/>
              <a:t>siklus</a:t>
            </a:r>
            <a:r>
              <a:rPr lang="en-ID" sz="4650" dirty="0"/>
              <a:t> masa, </a:t>
            </a:r>
            <a:r>
              <a:rPr lang="en-ID" sz="4650" dirty="0" err="1"/>
              <a:t>karena</a:t>
            </a:r>
            <a:r>
              <a:rPr lang="en-ID" sz="4650" dirty="0"/>
              <a:t> </a:t>
            </a:r>
            <a:r>
              <a:rPr lang="en-ID" sz="4650" dirty="0" err="1"/>
              <a:t>bidang</a:t>
            </a:r>
            <a:r>
              <a:rPr lang="en-ID" sz="4650" dirty="0"/>
              <a:t> </a:t>
            </a:r>
            <a:r>
              <a:rPr lang="en-ID" sz="4650" dirty="0" err="1"/>
              <a:t>ini</a:t>
            </a:r>
            <a:r>
              <a:rPr lang="en-ID" sz="4650" dirty="0"/>
              <a:t> </a:t>
            </a:r>
            <a:r>
              <a:rPr lang="en-ID" sz="4650" dirty="0" err="1"/>
              <a:t>adalah</a:t>
            </a:r>
            <a:r>
              <a:rPr lang="en-ID" sz="4650" dirty="0"/>
              <a:t> salah </a:t>
            </a:r>
            <a:r>
              <a:rPr lang="en-ID" sz="4650" dirty="0" err="1"/>
              <a:t>satu</a:t>
            </a:r>
            <a:r>
              <a:rPr lang="en-ID" sz="4650" dirty="0"/>
              <a:t> </a:t>
            </a:r>
            <a:r>
              <a:rPr lang="en-ID" sz="4650" dirty="0" err="1"/>
              <a:t>bidang</a:t>
            </a:r>
            <a:r>
              <a:rPr lang="en-ID" sz="4650" dirty="0"/>
              <a:t> </a:t>
            </a:r>
            <a:r>
              <a:rPr lang="en-ID" sz="4650" dirty="0" err="1"/>
              <a:t>studi</a:t>
            </a:r>
            <a:r>
              <a:rPr lang="en-ID" sz="4650" dirty="0"/>
              <a:t> yang paling </a:t>
            </a:r>
            <a:r>
              <a:rPr lang="en-ID" sz="4650" dirty="0" err="1"/>
              <a:t>cepat</a:t>
            </a:r>
            <a:r>
              <a:rPr lang="en-ID" sz="4650" dirty="0"/>
              <a:t> </a:t>
            </a:r>
            <a:r>
              <a:rPr lang="en-ID" sz="4650" dirty="0" err="1"/>
              <a:t>dalam</a:t>
            </a:r>
            <a:r>
              <a:rPr lang="en-ID" sz="4650" dirty="0"/>
              <a:t> </a:t>
            </a:r>
            <a:r>
              <a:rPr lang="en-ID" sz="4650" dirty="0" err="1"/>
              <a:t>beradaptasi</a:t>
            </a:r>
            <a:r>
              <a:rPr lang="en-ID" sz="4650" dirty="0"/>
              <a:t> </a:t>
            </a:r>
            <a:r>
              <a:rPr lang="en-ID" sz="4650" dirty="0" err="1"/>
              <a:t>terhadap</a:t>
            </a:r>
            <a:r>
              <a:rPr lang="en-ID" sz="4650" dirty="0"/>
              <a:t> </a:t>
            </a:r>
            <a:r>
              <a:rPr lang="en-ID" sz="4650" dirty="0" err="1"/>
              <a:t>perkembangan</a:t>
            </a:r>
            <a:r>
              <a:rPr lang="en-ID" sz="4650" dirty="0"/>
              <a:t> zaman. </a:t>
            </a:r>
            <a:r>
              <a:rPr lang="en-ID" sz="4650" dirty="0" err="1"/>
              <a:t>Jenis</a:t>
            </a:r>
            <a:r>
              <a:rPr lang="en-ID" sz="4650" dirty="0"/>
              <a:t> </a:t>
            </a:r>
            <a:r>
              <a:rPr lang="en-ID" sz="4650" dirty="0" err="1"/>
              <a:t>produk</a:t>
            </a:r>
            <a:r>
              <a:rPr lang="en-ID" sz="4650" dirty="0"/>
              <a:t> yang </a:t>
            </a:r>
            <a:r>
              <a:rPr lang="en-ID" sz="4650" dirty="0" err="1"/>
              <a:t>dihasilkannya</a:t>
            </a:r>
            <a:r>
              <a:rPr lang="en-ID" sz="4650" dirty="0"/>
              <a:t> juga </a:t>
            </a:r>
            <a:r>
              <a:rPr lang="en-ID" sz="4650" dirty="0" err="1"/>
              <a:t>semakin</a:t>
            </a:r>
            <a:r>
              <a:rPr lang="en-ID" sz="4650" dirty="0"/>
              <a:t> </a:t>
            </a:r>
            <a:r>
              <a:rPr lang="en-ID" sz="4650" dirty="0" err="1"/>
              <a:t>beragam</a:t>
            </a:r>
            <a:r>
              <a:rPr lang="en-ID" sz="4650" dirty="0"/>
              <a:t>, </a:t>
            </a:r>
            <a:r>
              <a:rPr lang="en-ID" sz="4650" dirty="0" err="1"/>
              <a:t>tidak</a:t>
            </a:r>
            <a:r>
              <a:rPr lang="en-ID" sz="4650" dirty="0"/>
              <a:t> </a:t>
            </a:r>
            <a:r>
              <a:rPr lang="en-ID" sz="4650" dirty="0" err="1"/>
              <a:t>hanya</a:t>
            </a:r>
            <a:r>
              <a:rPr lang="en-ID" sz="4650" dirty="0"/>
              <a:t> </a:t>
            </a:r>
            <a:r>
              <a:rPr lang="en-ID" sz="4650" dirty="0" err="1"/>
              <a:t>terbatas</a:t>
            </a:r>
            <a:r>
              <a:rPr lang="en-ID" sz="4650" dirty="0"/>
              <a:t> </a:t>
            </a:r>
            <a:r>
              <a:rPr lang="en-ID" sz="4650" dirty="0" err="1"/>
              <a:t>pada</a:t>
            </a:r>
            <a:r>
              <a:rPr lang="en-ID" sz="4650" dirty="0"/>
              <a:t> media </a:t>
            </a:r>
            <a:r>
              <a:rPr lang="en-ID" sz="4650" dirty="0" err="1"/>
              <a:t>cetak</a:t>
            </a:r>
            <a:r>
              <a:rPr lang="en-ID" sz="4650" dirty="0"/>
              <a:t>.</a:t>
            </a:r>
          </a:p>
          <a:p>
            <a:pPr marL="0" indent="0">
              <a:buNone/>
            </a:pPr>
            <a:r>
              <a:rPr lang="en-ID" sz="4650" dirty="0" err="1"/>
              <a:t>Desain</a:t>
            </a:r>
            <a:r>
              <a:rPr lang="en-ID" sz="4650" dirty="0"/>
              <a:t> </a:t>
            </a:r>
            <a:r>
              <a:rPr lang="en-ID" sz="4650" dirty="0" err="1"/>
              <a:t>grafis</a:t>
            </a:r>
            <a:r>
              <a:rPr lang="en-ID" sz="4650" dirty="0"/>
              <a:t> </a:t>
            </a:r>
            <a:r>
              <a:rPr lang="en-ID" sz="4650" dirty="0" err="1"/>
              <a:t>menghasilkan</a:t>
            </a:r>
            <a:r>
              <a:rPr lang="en-ID" sz="4650" dirty="0"/>
              <a:t> </a:t>
            </a:r>
            <a:r>
              <a:rPr lang="en-ID" sz="4650" dirty="0" err="1"/>
              <a:t>produk</a:t>
            </a:r>
            <a:r>
              <a:rPr lang="en-ID" sz="4650" dirty="0"/>
              <a:t> visual </a:t>
            </a:r>
            <a:r>
              <a:rPr lang="en-ID" sz="4650" dirty="0" err="1"/>
              <a:t>seperti</a:t>
            </a:r>
            <a:r>
              <a:rPr lang="en-ID" sz="4650" dirty="0"/>
              <a:t>:</a:t>
            </a:r>
          </a:p>
          <a:p>
            <a:r>
              <a:rPr lang="en-ID" sz="4650" dirty="0" err="1"/>
              <a:t>Brosur</a:t>
            </a:r>
            <a:endParaRPr lang="en-ID" sz="4650" dirty="0"/>
          </a:p>
          <a:p>
            <a:r>
              <a:rPr lang="en-ID" sz="4650" dirty="0"/>
              <a:t>Tata </a:t>
            </a:r>
            <a:r>
              <a:rPr lang="en-ID" sz="4650" dirty="0" err="1"/>
              <a:t>letak</a:t>
            </a:r>
            <a:r>
              <a:rPr lang="en-ID" sz="4650" dirty="0"/>
              <a:t> </a:t>
            </a:r>
            <a:r>
              <a:rPr lang="en-ID" sz="4650" dirty="0" err="1"/>
              <a:t>majalah</a:t>
            </a:r>
            <a:endParaRPr lang="en-ID" sz="4650" dirty="0"/>
          </a:p>
          <a:p>
            <a:r>
              <a:rPr lang="en-ID" sz="4650" dirty="0"/>
              <a:t>Cover </a:t>
            </a:r>
            <a:r>
              <a:rPr lang="en-ID" sz="4650" dirty="0" err="1"/>
              <a:t>Buku</a:t>
            </a:r>
            <a:endParaRPr lang="en-ID" sz="4650" dirty="0"/>
          </a:p>
          <a:p>
            <a:r>
              <a:rPr lang="en-ID" sz="4650" dirty="0"/>
              <a:t>Logo</a:t>
            </a:r>
          </a:p>
          <a:p>
            <a:r>
              <a:rPr lang="en-ID" sz="4650" dirty="0" err="1"/>
              <a:t>Antarmuka</a:t>
            </a:r>
            <a:r>
              <a:rPr lang="en-ID" sz="4650" dirty="0"/>
              <a:t> website</a:t>
            </a:r>
          </a:p>
          <a:p>
            <a:r>
              <a:rPr lang="en-ID" sz="4650" dirty="0" err="1"/>
              <a:t>Antarmuka</a:t>
            </a:r>
            <a:r>
              <a:rPr lang="en-ID" sz="4650" dirty="0"/>
              <a:t> </a:t>
            </a:r>
            <a:r>
              <a:rPr lang="en-ID" sz="4650" dirty="0" err="1"/>
              <a:t>aplikasi</a:t>
            </a:r>
            <a:r>
              <a:rPr lang="en-ID" sz="4650" dirty="0"/>
              <a:t> </a:t>
            </a:r>
            <a:r>
              <a:rPr lang="en-ID" sz="4650" dirty="0" err="1"/>
              <a:t>ponsel</a:t>
            </a:r>
            <a:r>
              <a:rPr lang="en-ID" sz="4650" dirty="0"/>
              <a:t>, </a:t>
            </a:r>
            <a:r>
              <a:rPr lang="en-ID" sz="4650" dirty="0" err="1"/>
              <a:t>dsb</a:t>
            </a:r>
            <a:endParaRPr lang="en-ID" sz="4650" dirty="0"/>
          </a:p>
          <a:p>
            <a:pPr marL="0" indent="0">
              <a:buNone/>
            </a:pPr>
            <a:br>
              <a:rPr lang="en-ID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967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445085-71DC-4D42-81DD-460A46BB0A25}"/>
              </a:ext>
            </a:extLst>
          </p:cNvPr>
          <p:cNvSpPr/>
          <p:nvPr/>
        </p:nvSpPr>
        <p:spPr>
          <a:xfrm>
            <a:off x="924129" y="2200327"/>
            <a:ext cx="732810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Desain</a:t>
            </a:r>
            <a:r>
              <a:rPr lang="en-US" sz="2000" dirty="0"/>
              <a:t> </a:t>
            </a:r>
            <a:r>
              <a:rPr lang="en-US" sz="2000" dirty="0" err="1"/>
              <a:t>grafis</a:t>
            </a:r>
            <a:r>
              <a:rPr lang="en-US" sz="2000" dirty="0"/>
              <a:t> </a:t>
            </a:r>
            <a:r>
              <a:rPr lang="en-US" sz="2000" dirty="0" err="1"/>
              <a:t>bermula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berbagai</a:t>
            </a:r>
            <a:r>
              <a:rPr lang="en-US" sz="2000" dirty="0"/>
              <a:t> </a:t>
            </a:r>
            <a:r>
              <a:rPr lang="en-US" sz="2000" dirty="0" err="1"/>
              <a:t>produk</a:t>
            </a:r>
            <a:r>
              <a:rPr lang="en-US" sz="2000" dirty="0"/>
              <a:t> </a:t>
            </a:r>
            <a:r>
              <a:rPr lang="en-US" sz="2000" dirty="0" err="1"/>
              <a:t>statis</a:t>
            </a:r>
            <a:r>
              <a:rPr lang="en-US" sz="2000" dirty="0"/>
              <a:t> </a:t>
            </a:r>
            <a:r>
              <a:rPr lang="en-US" sz="2000" dirty="0" err="1"/>
              <a:t>noncetak</a:t>
            </a:r>
            <a:r>
              <a:rPr lang="en-US" sz="2000" dirty="0"/>
              <a:t> </a:t>
            </a:r>
            <a:r>
              <a:rPr lang="en-US" sz="2000" dirty="0" err="1"/>
              <a:t>seperti</a:t>
            </a:r>
            <a:r>
              <a:rPr lang="en-US" sz="2000" dirty="0"/>
              <a:t> poster, </a:t>
            </a:r>
            <a:r>
              <a:rPr lang="en-US" sz="2000" dirty="0" err="1"/>
              <a:t>borsur</a:t>
            </a:r>
            <a:r>
              <a:rPr lang="en-US" sz="2000" dirty="0"/>
              <a:t>, </a:t>
            </a:r>
            <a:r>
              <a:rPr lang="en-US" sz="2000" dirty="0" err="1"/>
              <a:t>majalah</a:t>
            </a:r>
            <a:r>
              <a:rPr lang="en-US" sz="2000" dirty="0"/>
              <a:t>, </a:t>
            </a:r>
            <a:r>
              <a:rPr lang="en-US" sz="2000" dirty="0" err="1"/>
              <a:t>dsb</a:t>
            </a:r>
            <a:r>
              <a:rPr lang="en-US" sz="2000" dirty="0"/>
              <a:t>. </a:t>
            </a:r>
            <a:r>
              <a:rPr lang="en-US" sz="2000" dirty="0" err="1"/>
              <a:t>Namun</a:t>
            </a:r>
            <a:r>
              <a:rPr lang="en-US" sz="2000" dirty="0"/>
              <a:t> </a:t>
            </a:r>
            <a:r>
              <a:rPr lang="en-US" sz="2000" dirty="0" err="1"/>
              <a:t>seiring</a:t>
            </a:r>
            <a:r>
              <a:rPr lang="en-US" sz="2000" dirty="0"/>
              <a:t> </a:t>
            </a:r>
            <a:r>
              <a:rPr lang="en-US" sz="2000" dirty="0" err="1"/>
              <a:t>perkembangan</a:t>
            </a:r>
            <a:r>
              <a:rPr lang="en-US" sz="2000" dirty="0"/>
              <a:t> zaman, media non </a:t>
            </a:r>
            <a:r>
              <a:rPr lang="en-US" sz="2000" dirty="0" err="1"/>
              <a:t>cetak</a:t>
            </a:r>
            <a:r>
              <a:rPr lang="en-US" sz="2000" dirty="0"/>
              <a:t> juga </a:t>
            </a:r>
            <a:r>
              <a:rPr lang="en-US" sz="2000" dirty="0" err="1"/>
              <a:t>menjadi</a:t>
            </a:r>
            <a:r>
              <a:rPr lang="en-US" sz="2000" dirty="0"/>
              <a:t> media yang </a:t>
            </a:r>
            <a:r>
              <a:rPr lang="en-US" sz="2000" dirty="0" err="1"/>
              <a:t>digelutinya</a:t>
            </a:r>
            <a:r>
              <a:rPr lang="en-US" sz="2000" dirty="0"/>
              <a:t>. </a:t>
            </a:r>
            <a:r>
              <a:rPr lang="en-US" sz="2000" dirty="0" err="1"/>
              <a:t>Seiring</a:t>
            </a:r>
            <a:r>
              <a:rPr lang="en-US" sz="2000" dirty="0"/>
              <a:t> </a:t>
            </a:r>
            <a:r>
              <a:rPr lang="en-US" sz="2000" dirty="0" err="1"/>
              <a:t>perkembangan</a:t>
            </a:r>
            <a:r>
              <a:rPr lang="en-US" sz="2000" dirty="0"/>
              <a:t> zaman juga </a:t>
            </a:r>
            <a:r>
              <a:rPr lang="en-US" sz="2000" dirty="0" err="1"/>
              <a:t>pengertian</a:t>
            </a:r>
            <a:r>
              <a:rPr lang="en-US" sz="2000" dirty="0"/>
              <a:t> </a:t>
            </a:r>
            <a:r>
              <a:rPr lang="en-US" sz="2000" dirty="0" err="1"/>
              <a:t>desain</a:t>
            </a:r>
            <a:r>
              <a:rPr lang="en-US" sz="2000" dirty="0"/>
              <a:t> </a:t>
            </a:r>
            <a:r>
              <a:rPr lang="en-US" sz="2000" dirty="0" err="1"/>
              <a:t>grafis</a:t>
            </a:r>
            <a:r>
              <a:rPr lang="en-US" sz="2000" dirty="0"/>
              <a:t> </a:t>
            </a:r>
            <a:r>
              <a:rPr lang="en-US" sz="2000" dirty="0" err="1"/>
              <a:t>semakin</a:t>
            </a:r>
            <a:r>
              <a:rPr lang="en-US" sz="2000" dirty="0"/>
              <a:t> </a:t>
            </a:r>
            <a:r>
              <a:rPr lang="en-US" sz="2000" dirty="0" err="1"/>
              <a:t>meluas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sering</a:t>
            </a:r>
            <a:r>
              <a:rPr lang="en-US" sz="2000" dirty="0"/>
              <a:t> </a:t>
            </a:r>
            <a:r>
              <a:rPr lang="en-US" sz="2000" dirty="0" err="1"/>
              <a:t>digantikan</a:t>
            </a:r>
            <a:r>
              <a:rPr lang="en-US" sz="2000" dirty="0"/>
              <a:t> </a:t>
            </a:r>
            <a:r>
              <a:rPr lang="en-US" sz="2000" dirty="0" err="1"/>
              <a:t>oleh</a:t>
            </a:r>
            <a:r>
              <a:rPr lang="en-US" sz="2000" dirty="0"/>
              <a:t> </a:t>
            </a:r>
            <a:r>
              <a:rPr lang="en-US" sz="2000" dirty="0" err="1"/>
              <a:t>istilah</a:t>
            </a:r>
            <a:r>
              <a:rPr lang="en-US" sz="2000" dirty="0"/>
              <a:t> lain yang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umum</a:t>
            </a:r>
            <a:r>
              <a:rPr lang="en-US" sz="2000" dirty="0"/>
              <a:t> </a:t>
            </a:r>
            <a:r>
              <a:rPr lang="en-US" sz="2000" dirty="0" err="1"/>
              <a:t>seperti</a:t>
            </a:r>
            <a:r>
              <a:rPr lang="en-US" sz="2000" dirty="0"/>
              <a:t>: </a:t>
            </a:r>
            <a:r>
              <a:rPr lang="en-US" sz="2000" dirty="0" err="1"/>
              <a:t>Grafis</a:t>
            </a:r>
            <a:r>
              <a:rPr lang="en-US" sz="2000" dirty="0"/>
              <a:t> </a:t>
            </a:r>
            <a:r>
              <a:rPr lang="en-US" sz="2000" dirty="0" err="1"/>
              <a:t>Komunikasi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 </a:t>
            </a:r>
            <a:r>
              <a:rPr lang="en-US" sz="2000" dirty="0" err="1"/>
              <a:t>Desain</a:t>
            </a:r>
            <a:r>
              <a:rPr lang="en-US" sz="2000" dirty="0"/>
              <a:t> </a:t>
            </a:r>
            <a:r>
              <a:rPr lang="en-US" sz="2000" dirty="0" err="1"/>
              <a:t>Komunikasi</a:t>
            </a:r>
            <a:r>
              <a:rPr lang="en-US" sz="2000" dirty="0"/>
              <a:t> Visual.</a:t>
            </a:r>
          </a:p>
        </p:txBody>
      </p:sp>
    </p:spTree>
    <p:extLst>
      <p:ext uri="{BB962C8B-B14F-4D97-AF65-F5344CB8AC3E}">
        <p14:creationId xmlns:p14="http://schemas.microsoft.com/office/powerpoint/2010/main" val="2777177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7B5D7-130E-5A4A-B5B5-97E0AE04B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err="1"/>
              <a:t>Pengertian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Grafis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Tujuan</a:t>
            </a:r>
            <a:r>
              <a:rPr lang="en-ID" dirty="0"/>
              <a:t> &amp; </a:t>
            </a:r>
            <a:r>
              <a:rPr lang="en-ID" dirty="0" err="1"/>
              <a:t>Fungsinya</a:t>
            </a:r>
            <a:br>
              <a:rPr lang="en-ID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D8116-CCAB-5644-981D-1A21C636F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491" y="2015733"/>
            <a:ext cx="7116849" cy="454071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ID" dirty="0" err="1"/>
              <a:t>Mengeksplorasi</a:t>
            </a:r>
            <a:r>
              <a:rPr lang="en-ID" dirty="0"/>
              <a:t> </a:t>
            </a:r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grafis</a:t>
            </a:r>
            <a:r>
              <a:rPr lang="en-ID" dirty="0"/>
              <a:t> juga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membawa</a:t>
            </a:r>
            <a:r>
              <a:rPr lang="en-ID" dirty="0"/>
              <a:t> </a:t>
            </a:r>
            <a:r>
              <a:rPr lang="en-ID" dirty="0" err="1"/>
              <a:t>pemahaman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pengertian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grafis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.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grafis</a:t>
            </a:r>
            <a:r>
              <a:rPr lang="en-ID" dirty="0"/>
              <a:t> </a:t>
            </a:r>
            <a:r>
              <a:rPr lang="en-ID" dirty="0" err="1"/>
              <a:t>identik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</a:t>
            </a:r>
            <a:r>
              <a:rPr lang="en-ID" dirty="0" err="1"/>
              <a:t>pengolah</a:t>
            </a:r>
            <a:r>
              <a:rPr lang="en-ID" dirty="0"/>
              <a:t> </a:t>
            </a:r>
            <a:r>
              <a:rPr lang="en-ID" dirty="0" err="1"/>
              <a:t>grafis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Adobe Illustrator, Corel Draw </a:t>
            </a:r>
            <a:r>
              <a:rPr lang="en-ID" dirty="0" err="1"/>
              <a:t>dan</a:t>
            </a:r>
            <a:r>
              <a:rPr lang="en-ID" dirty="0"/>
              <a:t> Photoshop.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sebetulnya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hanyalah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proses </a:t>
            </a:r>
            <a:r>
              <a:rPr lang="en-ID" dirty="0" err="1"/>
              <a:t>perancangan</a:t>
            </a:r>
            <a:r>
              <a:rPr lang="en-ID" dirty="0"/>
              <a:t>.</a:t>
            </a:r>
          </a:p>
          <a:p>
            <a:pPr marL="0" indent="0" fontAlgn="base">
              <a:buNone/>
            </a:pP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seorang</a:t>
            </a:r>
            <a:r>
              <a:rPr lang="en-ID" dirty="0"/>
              <a:t> </a:t>
            </a:r>
            <a:r>
              <a:rPr lang="en-ID" dirty="0" err="1"/>
              <a:t>desainer</a:t>
            </a:r>
            <a:r>
              <a:rPr lang="en-ID" dirty="0"/>
              <a:t> </a:t>
            </a:r>
            <a:r>
              <a:rPr lang="en-ID" dirty="0" err="1"/>
              <a:t>grafis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pemecah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komunikasi</a:t>
            </a:r>
            <a:r>
              <a:rPr lang="en-ID" dirty="0"/>
              <a:t> visual.  </a:t>
            </a:r>
            <a:r>
              <a:rPr lang="en-ID" dirty="0" err="1"/>
              <a:t>Seorang</a:t>
            </a:r>
            <a:r>
              <a:rPr lang="en-ID" dirty="0"/>
              <a:t> </a:t>
            </a:r>
            <a:r>
              <a:rPr lang="en-ID" dirty="0" err="1"/>
              <a:t>desainer</a:t>
            </a:r>
            <a:r>
              <a:rPr lang="en-ID" dirty="0"/>
              <a:t> </a:t>
            </a:r>
            <a:r>
              <a:rPr lang="en-ID" dirty="0" err="1"/>
              <a:t>grafis</a:t>
            </a:r>
            <a:r>
              <a:rPr lang="en-ID" dirty="0"/>
              <a:t> </a:t>
            </a:r>
            <a:r>
              <a:rPr lang="en-ID" dirty="0" err="1"/>
              <a:t>bukanlah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seseorang</a:t>
            </a:r>
            <a:r>
              <a:rPr lang="en-ID" dirty="0"/>
              <a:t> yang </a:t>
            </a:r>
            <a:r>
              <a:rPr lang="en-ID" dirty="0" err="1"/>
              <a:t>mampu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</a:t>
            </a:r>
            <a:r>
              <a:rPr lang="en-ID" dirty="0" err="1"/>
              <a:t>grafis</a:t>
            </a:r>
            <a:r>
              <a:rPr lang="en-ID" dirty="0"/>
              <a:t>. </a:t>
            </a:r>
            <a:r>
              <a:rPr lang="en-ID" dirty="0" err="1"/>
              <a:t>Seorang</a:t>
            </a:r>
            <a:r>
              <a:rPr lang="en-ID" dirty="0"/>
              <a:t> </a:t>
            </a:r>
            <a:r>
              <a:rPr lang="en-ID" dirty="0" err="1"/>
              <a:t>desainer</a:t>
            </a:r>
            <a:r>
              <a:rPr lang="en-ID" dirty="0"/>
              <a:t> juga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piawai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menggambar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pensil</a:t>
            </a:r>
            <a:r>
              <a:rPr lang="en-ID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118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93130-C166-0542-831C-FA0F017E2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5670" y="1488332"/>
            <a:ext cx="6571343" cy="40953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Hakikatnya</a:t>
            </a:r>
            <a:r>
              <a:rPr lang="en-US" dirty="0"/>
              <a:t> </a:t>
            </a: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desainer</a:t>
            </a:r>
            <a:r>
              <a:rPr lang="en-US" dirty="0"/>
              <a:t> </a:t>
            </a:r>
            <a:r>
              <a:rPr lang="en-US" dirty="0" err="1"/>
              <a:t>grafis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perancang</a:t>
            </a:r>
            <a:r>
              <a:rPr lang="en-US" dirty="0"/>
              <a:t>, </a:t>
            </a:r>
            <a:r>
              <a:rPr lang="en-US" dirty="0" err="1"/>
              <a:t>pencetus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penemu</a:t>
            </a:r>
            <a:r>
              <a:rPr lang="en-US" dirty="0"/>
              <a:t> ide. </a:t>
            </a: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desainer</a:t>
            </a:r>
            <a:r>
              <a:rPr lang="en-US" dirty="0"/>
              <a:t> </a:t>
            </a:r>
            <a:r>
              <a:rPr lang="en-US" dirty="0" err="1"/>
              <a:t>grafis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tanggung</a:t>
            </a:r>
            <a:r>
              <a:rPr lang="en-US" dirty="0"/>
              <a:t> </a:t>
            </a:r>
            <a:r>
              <a:rPr lang="en-US" dirty="0" err="1"/>
              <a:t>jawab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komunikasi</a:t>
            </a:r>
            <a:r>
              <a:rPr lang="en-US" dirty="0"/>
              <a:t> verbal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komunikasi</a:t>
            </a:r>
            <a:r>
              <a:rPr lang="en-US" dirty="0"/>
              <a:t> visual agar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pesan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diterima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diiringi</a:t>
            </a:r>
            <a:r>
              <a:rPr lang="en-US" dirty="0"/>
              <a:t> </a:t>
            </a:r>
            <a:r>
              <a:rPr lang="en-US" dirty="0" err="1"/>
              <a:t>estetika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pencitraan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Desainer</a:t>
            </a:r>
            <a:r>
              <a:rPr lang="en-US" dirty="0"/>
              <a:t> </a:t>
            </a:r>
            <a:r>
              <a:rPr lang="en-US" dirty="0" err="1"/>
              <a:t>grafis</a:t>
            </a:r>
            <a:r>
              <a:rPr lang="en-US" dirty="0"/>
              <a:t> </a:t>
            </a:r>
            <a:r>
              <a:rPr lang="en-US" dirty="0" err="1"/>
              <a:t>justru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acuan</a:t>
            </a:r>
            <a:r>
              <a:rPr lang="en-US" dirty="0"/>
              <a:t> </a:t>
            </a:r>
            <a:r>
              <a:rPr lang="en-US" dirty="0" err="1"/>
              <a:t>keprofesiannya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: </a:t>
            </a:r>
            <a:r>
              <a:rPr lang="en-US" dirty="0" err="1"/>
              <a:t>unsur-unsur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, </a:t>
            </a:r>
            <a:r>
              <a:rPr lang="en-US" dirty="0" err="1"/>
              <a:t>prinsip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, </a:t>
            </a:r>
            <a:r>
              <a:rPr lang="en-US" dirty="0" err="1"/>
              <a:t>estetika</a:t>
            </a:r>
            <a:r>
              <a:rPr lang="en-US" dirty="0"/>
              <a:t>,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rupa</a:t>
            </a:r>
            <a:r>
              <a:rPr lang="en-US" dirty="0"/>
              <a:t>, </a:t>
            </a:r>
            <a:r>
              <a:rPr lang="en-US" dirty="0" err="1"/>
              <a:t>semiotika</a:t>
            </a:r>
            <a:r>
              <a:rPr lang="en-US" dirty="0"/>
              <a:t>, </a:t>
            </a:r>
            <a:r>
              <a:rPr lang="en-US" dirty="0" err="1"/>
              <a:t>dsb</a:t>
            </a:r>
            <a:r>
              <a:rPr lang="en-US" dirty="0"/>
              <a:t>. </a:t>
            </a:r>
            <a:r>
              <a:rPr lang="en-US" dirty="0" err="1"/>
              <a:t>Pengetahuan-pengetahuan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bersifat</a:t>
            </a:r>
            <a:r>
              <a:rPr lang="en-US" dirty="0"/>
              <a:t> modular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sepanjang</a:t>
            </a:r>
            <a:r>
              <a:rPr lang="en-US" dirty="0"/>
              <a:t> masa.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128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6EA6A-271E-DB43-8DF2-09AF43B94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Sementara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 </a:t>
            </a:r>
            <a:r>
              <a:rPr lang="en-US" dirty="0" err="1"/>
              <a:t>terus</a:t>
            </a:r>
            <a:r>
              <a:rPr lang="en-US" dirty="0"/>
              <a:t> </a:t>
            </a:r>
            <a:r>
              <a:rPr lang="en-US" dirty="0" err="1"/>
              <a:t>berubah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berkembang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pesat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terus</a:t>
            </a:r>
            <a:r>
              <a:rPr lang="en-US" dirty="0"/>
              <a:t> </a:t>
            </a:r>
            <a:r>
              <a:rPr lang="en-US" dirty="0" err="1"/>
              <a:t>diikuti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dilatih</a:t>
            </a:r>
            <a:r>
              <a:rPr lang="en-US" dirty="0"/>
              <a:t> </a:t>
            </a:r>
            <a:r>
              <a:rPr lang="en-US" dirty="0" err="1"/>
              <a:t>sepanjang</a:t>
            </a:r>
            <a:r>
              <a:rPr lang="en-US" dirty="0"/>
              <a:t> </a:t>
            </a:r>
            <a:r>
              <a:rPr lang="en-US" dirty="0" err="1"/>
              <a:t>hayat</a:t>
            </a:r>
            <a:r>
              <a:rPr lang="en-US" dirty="0"/>
              <a:t>. </a:t>
            </a:r>
            <a:r>
              <a:rPr lang="en-US" dirty="0" err="1"/>
              <a:t>Kemampuan</a:t>
            </a:r>
            <a:r>
              <a:rPr lang="en-US" dirty="0"/>
              <a:t> </a:t>
            </a:r>
            <a:r>
              <a:rPr lang="en-US" dirty="0" err="1"/>
              <a:t>menggambar</a:t>
            </a:r>
            <a:r>
              <a:rPr lang="en-US" dirty="0"/>
              <a:t> manual </a:t>
            </a:r>
            <a:r>
              <a:rPr lang="en-US" dirty="0" err="1"/>
              <a:t>sebetulnya</a:t>
            </a:r>
            <a:r>
              <a:rPr lang="en-US" dirty="0"/>
              <a:t> </a:t>
            </a:r>
            <a:r>
              <a:rPr lang="en-US" dirty="0" err="1"/>
              <a:t>hampir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dikatakan</a:t>
            </a:r>
            <a:r>
              <a:rPr lang="en-US" dirty="0"/>
              <a:t> </a:t>
            </a:r>
            <a:r>
              <a:rPr lang="en-US" dirty="0" err="1"/>
              <a:t>opsional</a:t>
            </a:r>
            <a:r>
              <a:rPr lang="en-US" dirty="0"/>
              <a:t>, </a:t>
            </a:r>
            <a:r>
              <a:rPr lang="en-US" dirty="0" err="1"/>
              <a:t>meskipun</a:t>
            </a:r>
            <a:r>
              <a:rPr lang="en-US" dirty="0"/>
              <a:t> </a:t>
            </a:r>
            <a:r>
              <a:rPr lang="en-US" dirty="0" err="1"/>
              <a:t>menguasainya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melatih</a:t>
            </a:r>
            <a:r>
              <a:rPr lang="en-US" dirty="0"/>
              <a:t> </a:t>
            </a:r>
            <a:r>
              <a:rPr lang="en-US" dirty="0" err="1"/>
              <a:t>insting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memastikan</a:t>
            </a:r>
            <a:r>
              <a:rPr lang="en-US" dirty="0"/>
              <a:t> </a:t>
            </a:r>
            <a:r>
              <a:rPr lang="en-US" dirty="0" err="1"/>
              <a:t>pengertian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grafis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akurat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objektif</a:t>
            </a:r>
            <a:r>
              <a:rPr lang="en-US" dirty="0"/>
              <a:t>, </a:t>
            </a:r>
            <a:r>
              <a:rPr lang="en-US" dirty="0" err="1"/>
              <a:t>sebaiknya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menelusuri</a:t>
            </a:r>
            <a:r>
              <a:rPr lang="en-US" dirty="0"/>
              <a:t> </a:t>
            </a:r>
            <a:r>
              <a:rPr lang="en-US" dirty="0" err="1"/>
              <a:t>pengertian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masing-masing</a:t>
            </a:r>
            <a:r>
              <a:rPr lang="en-US" dirty="0"/>
              <a:t> kata yang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frasa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Grafis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. </a:t>
            </a:r>
            <a:r>
              <a:rPr lang="en-US" dirty="0" err="1"/>
              <a:t>Tentunya</a:t>
            </a:r>
            <a:r>
              <a:rPr lang="en-US" dirty="0"/>
              <a:t>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pengertian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465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6FAB3-EDFA-ED43-A493-F387E2168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Pengertian</a:t>
            </a:r>
            <a:r>
              <a:rPr lang="en-ID" dirty="0"/>
              <a:t> </a:t>
            </a:r>
            <a:r>
              <a:rPr lang="en-ID" dirty="0" err="1"/>
              <a:t>Desain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F072F-DA9B-9941-85EC-581F1BA8C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491" y="2015733"/>
            <a:ext cx="7058483" cy="42099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Pengertian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menurut</a:t>
            </a:r>
            <a:r>
              <a:rPr lang="en-US" dirty="0"/>
              <a:t> JB </a:t>
            </a:r>
            <a:r>
              <a:rPr lang="en-US" dirty="0" err="1"/>
              <a:t>Reswick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: </a:t>
            </a:r>
            <a:r>
              <a:rPr lang="en-US" dirty="0" err="1"/>
              <a:t>kegiatan</a:t>
            </a:r>
            <a:r>
              <a:rPr lang="en-US" dirty="0"/>
              <a:t> </a:t>
            </a:r>
            <a:r>
              <a:rPr lang="en-US" dirty="0" err="1"/>
              <a:t>kreatif</a:t>
            </a:r>
            <a:r>
              <a:rPr lang="en-US" dirty="0"/>
              <a:t> yang </a:t>
            </a:r>
            <a:r>
              <a:rPr lang="en-US" dirty="0" err="1"/>
              <a:t>melibatkan</a:t>
            </a:r>
            <a:r>
              <a:rPr lang="en-US" dirty="0"/>
              <a:t> </a:t>
            </a:r>
            <a:r>
              <a:rPr lang="en-US" dirty="0" err="1"/>
              <a:t>penciptaan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berguna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.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lanjut</a:t>
            </a:r>
            <a:r>
              <a:rPr lang="en-US" dirty="0"/>
              <a:t> </a:t>
            </a:r>
            <a:r>
              <a:rPr lang="en-US" dirty="0" err="1"/>
              <a:t>Yasraf</a:t>
            </a:r>
            <a:r>
              <a:rPr lang="en-US" dirty="0"/>
              <a:t> </a:t>
            </a:r>
            <a:r>
              <a:rPr lang="en-US" dirty="0" err="1"/>
              <a:t>menjelaskan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demikan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 </a:t>
            </a:r>
            <a:r>
              <a:rPr lang="en-US" dirty="0" err="1"/>
              <a:t>kreatif-progresif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, yang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akhirnya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kebaruan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. (</a:t>
            </a:r>
            <a:r>
              <a:rPr lang="en-US" dirty="0" err="1"/>
              <a:t>Piliang</a:t>
            </a:r>
            <a:r>
              <a:rPr lang="en-US" dirty="0"/>
              <a:t>, 2008: 384).</a:t>
            </a:r>
          </a:p>
          <a:p>
            <a:pPr marL="0" indent="0">
              <a:buNone/>
            </a:pPr>
            <a:r>
              <a:rPr lang="en-US" dirty="0" err="1"/>
              <a:t>Menyimpulkan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dinyatakan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ahli</a:t>
            </a:r>
            <a:r>
              <a:rPr lang="en-US" dirty="0"/>
              <a:t> </a:t>
            </a:r>
            <a:r>
              <a:rPr lang="en-US" dirty="0" err="1"/>
              <a:t>diatas</a:t>
            </a:r>
            <a:r>
              <a:rPr lang="en-US" dirty="0"/>
              <a:t> </a:t>
            </a:r>
            <a:r>
              <a:rPr lang="en-US" dirty="0" err="1"/>
              <a:t>tampaknya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jelas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proses </a:t>
            </a:r>
            <a:r>
              <a:rPr lang="en-US" dirty="0" err="1"/>
              <a:t>kreatif</a:t>
            </a:r>
            <a:r>
              <a:rPr lang="en-US" dirty="0"/>
              <a:t> yang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berguna</a:t>
            </a:r>
            <a:r>
              <a:rPr lang="en-US" dirty="0"/>
              <a:t> </a:t>
            </a:r>
            <a:r>
              <a:rPr lang="en-US" dirty="0" err="1"/>
              <a:t>bahkan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. </a:t>
            </a:r>
            <a:r>
              <a:rPr lang="en-US" dirty="0" err="1"/>
              <a:t>Tampaknya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 </a:t>
            </a:r>
            <a:r>
              <a:rPr lang="en-US" dirty="0" err="1"/>
              <a:t>merancang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merujuk</a:t>
            </a:r>
            <a:r>
              <a:rPr lang="en-US" dirty="0"/>
              <a:t> </a:t>
            </a:r>
            <a:r>
              <a:rPr lang="en-US" dirty="0" err="1"/>
              <a:t>kesana</a:t>
            </a:r>
            <a:r>
              <a:rPr lang="en-US" dirty="0"/>
              <a:t>. </a:t>
            </a:r>
            <a:r>
              <a:rPr lang="en-US" dirty="0" err="1"/>
              <a:t>Bahkan</a:t>
            </a:r>
            <a:r>
              <a:rPr lang="en-US" dirty="0"/>
              <a:t> kata </a:t>
            </a:r>
            <a:r>
              <a:rPr lang="en-US" dirty="0" err="1"/>
              <a:t>desain</a:t>
            </a:r>
            <a:r>
              <a:rPr lang="en-US" dirty="0"/>
              <a:t>  </a:t>
            </a:r>
            <a:r>
              <a:rPr lang="en-US" dirty="0" err="1"/>
              <a:t>sepadan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kata </a:t>
            </a:r>
            <a:r>
              <a:rPr lang="en-US" dirty="0" err="1"/>
              <a:t>perancangan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Kamus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Bahasa Indonesia.</a:t>
            </a:r>
          </a:p>
          <a:p>
            <a:pPr marL="0" indent="0">
              <a:buNone/>
            </a:pPr>
            <a:r>
              <a:rPr lang="en-US" dirty="0" err="1"/>
              <a:t>Pernyataan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juga </a:t>
            </a:r>
            <a:r>
              <a:rPr lang="en-US" dirty="0" err="1"/>
              <a:t>sejalan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asal-muasal</a:t>
            </a:r>
            <a:r>
              <a:rPr lang="en-US" dirty="0"/>
              <a:t> kata “</a:t>
            </a:r>
            <a:r>
              <a:rPr lang="en-US" dirty="0" err="1"/>
              <a:t>Desain</a:t>
            </a:r>
            <a:r>
              <a:rPr lang="en-US" dirty="0"/>
              <a:t>” yang </a:t>
            </a:r>
            <a:r>
              <a:rPr lang="en-US" dirty="0" err="1"/>
              <a:t>dipinjam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inggris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: Design.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Kamus</a:t>
            </a:r>
            <a:r>
              <a:rPr lang="en-US" dirty="0"/>
              <a:t> Oxford, Design 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rencana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yang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bangunan</a:t>
            </a:r>
            <a:r>
              <a:rPr lang="en-US" dirty="0"/>
              <a:t>, </a:t>
            </a:r>
            <a:r>
              <a:rPr lang="en-US" dirty="0" err="1"/>
              <a:t>pakaian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benda</a:t>
            </a:r>
            <a:r>
              <a:rPr lang="en-US" dirty="0"/>
              <a:t> lain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875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E4E7-6B71-124A-9A32-9A0BCB4F8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Pengertian</a:t>
            </a:r>
            <a:r>
              <a:rPr lang="en-ID" dirty="0"/>
              <a:t> </a:t>
            </a:r>
            <a:r>
              <a:rPr lang="en-ID" dirty="0" err="1"/>
              <a:t>Grafis</a:t>
            </a:r>
            <a:br>
              <a:rPr lang="en-ID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81FE0-D401-2C44-8FC2-B068904DC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491" y="2015733"/>
            <a:ext cx="6571343" cy="399596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err="1"/>
              <a:t>Grafis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berasal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kata Graphic 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inggris</a:t>
            </a:r>
            <a:r>
              <a:rPr lang="en-US" dirty="0"/>
              <a:t>, yang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</a:t>
            </a:r>
            <a:r>
              <a:rPr lang="en-US" dirty="0" err="1"/>
              <a:t>berhubungan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rupa</a:t>
            </a:r>
            <a:r>
              <a:rPr lang="en-US" dirty="0"/>
              <a:t>, </a:t>
            </a:r>
            <a:r>
              <a:rPr lang="en-US" dirty="0" err="1"/>
              <a:t>termasuk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, </a:t>
            </a:r>
            <a:r>
              <a:rPr lang="en-US" dirty="0" err="1"/>
              <a:t>ilustrasi</a:t>
            </a:r>
            <a:r>
              <a:rPr lang="en-US" dirty="0"/>
              <a:t>, </a:t>
            </a:r>
            <a:r>
              <a:rPr lang="en-US" dirty="0" err="1"/>
              <a:t>pahatan</a:t>
            </a:r>
            <a:r>
              <a:rPr lang="en-US" dirty="0"/>
              <a:t>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sz="2400" dirty="0" err="1"/>
              <a:t>kaligrafi</a:t>
            </a:r>
            <a:r>
              <a:rPr lang="en-US" dirty="0"/>
              <a:t>. Kata Graphic </a:t>
            </a:r>
            <a:r>
              <a:rPr lang="en-US" dirty="0" err="1"/>
              <a:t>berasal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Yunani, </a:t>
            </a:r>
            <a:r>
              <a:rPr lang="en-US" dirty="0" err="1"/>
              <a:t>yaitu</a:t>
            </a:r>
            <a:r>
              <a:rPr lang="en-US" dirty="0"/>
              <a:t>: </a:t>
            </a:r>
            <a:r>
              <a:rPr lang="en-US" dirty="0" err="1"/>
              <a:t>graphikos</a:t>
            </a:r>
            <a:r>
              <a:rPr lang="en-US" dirty="0"/>
              <a:t> yang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menggambar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menulis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Mengapa</a:t>
            </a:r>
            <a:r>
              <a:rPr lang="en-US" dirty="0"/>
              <a:t> </a:t>
            </a:r>
            <a:r>
              <a:rPr lang="en-US" dirty="0" err="1"/>
              <a:t>istilah</a:t>
            </a:r>
            <a:r>
              <a:rPr lang="en-US" dirty="0"/>
              <a:t> </a:t>
            </a:r>
            <a:r>
              <a:rPr lang="en-US" dirty="0" err="1"/>
              <a:t>grafis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rupa</a:t>
            </a:r>
            <a:r>
              <a:rPr lang="en-US" dirty="0"/>
              <a:t>/visual? Karena </a:t>
            </a:r>
            <a:r>
              <a:rPr lang="en-US" dirty="0" err="1"/>
              <a:t>rupa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bukan</a:t>
            </a:r>
            <a:r>
              <a:rPr lang="en-US" dirty="0"/>
              <a:t> kata </a:t>
            </a:r>
            <a:r>
              <a:rPr lang="en-US" dirty="0" err="1"/>
              <a:t>benda</a:t>
            </a:r>
            <a:r>
              <a:rPr lang="en-US" dirty="0"/>
              <a:t>, </a:t>
            </a:r>
            <a:r>
              <a:rPr lang="en-US" dirty="0" err="1"/>
              <a:t>sementara</a:t>
            </a:r>
            <a:r>
              <a:rPr lang="en-US" dirty="0"/>
              <a:t> </a:t>
            </a:r>
            <a:r>
              <a:rPr lang="en-US" dirty="0" err="1"/>
              <a:t>pengertian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kaitannya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benda</a:t>
            </a:r>
            <a:r>
              <a:rPr lang="en-US" dirty="0"/>
              <a:t> yang </a:t>
            </a:r>
            <a:r>
              <a:rPr lang="en-US" dirty="0" err="1"/>
              <a:t>dihasilkannya</a:t>
            </a:r>
            <a:r>
              <a:rPr lang="en-US" dirty="0"/>
              <a:t>. </a:t>
            </a:r>
            <a:r>
              <a:rPr lang="en-US" dirty="0" err="1"/>
              <a:t>Istilah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mengakomodir</a:t>
            </a:r>
            <a:r>
              <a:rPr lang="en-US" dirty="0"/>
              <a:t> proses </a:t>
            </a:r>
            <a:r>
              <a:rPr lang="en-US" dirty="0" err="1"/>
              <a:t>sekaligus</a:t>
            </a:r>
            <a:r>
              <a:rPr lang="en-US" dirty="0"/>
              <a:t> </a:t>
            </a:r>
            <a:r>
              <a:rPr lang="en-US" dirty="0" err="1"/>
              <a:t>benda</a:t>
            </a:r>
            <a:r>
              <a:rPr lang="en-US" dirty="0"/>
              <a:t> yang </a:t>
            </a:r>
            <a:r>
              <a:rPr lang="en-US" dirty="0" err="1"/>
              <a:t>dihasilkannya</a:t>
            </a:r>
            <a:r>
              <a:rPr lang="en-US" dirty="0"/>
              <a:t> juga. </a:t>
            </a:r>
            <a:r>
              <a:rPr lang="en-US" dirty="0" err="1"/>
              <a:t>Istilah</a:t>
            </a:r>
            <a:r>
              <a:rPr lang="en-US" dirty="0"/>
              <a:t> </a:t>
            </a:r>
            <a:r>
              <a:rPr lang="en-US" dirty="0" err="1"/>
              <a:t>grafis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mengakomodir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249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4C953-13C7-944F-9BD2-8B5CAE8DB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ID" dirty="0" err="1"/>
              <a:t>Pengertian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Grafis</a:t>
            </a:r>
            <a:r>
              <a:rPr lang="en-ID" dirty="0"/>
              <a:t> </a:t>
            </a:r>
            <a:r>
              <a:rPr lang="en-ID" dirty="0" err="1"/>
              <a:t>menurut</a:t>
            </a:r>
            <a:r>
              <a:rPr lang="en-ID" dirty="0"/>
              <a:t> para Ahli</a:t>
            </a:r>
            <a:br>
              <a:rPr lang="en-ID" dirty="0"/>
            </a:br>
            <a:br>
              <a:rPr lang="en-ID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2A9E5-4890-6D46-A5D6-2A5B8B4F6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491" y="1853755"/>
            <a:ext cx="7271018" cy="4177249"/>
          </a:xfrm>
        </p:spPr>
        <p:txBody>
          <a:bodyPr>
            <a:normAutofit fontScale="70000" lnSpcReduction="20000"/>
          </a:bodyPr>
          <a:lstStyle/>
          <a:p>
            <a:pPr fontAlgn="base"/>
            <a:r>
              <a:rPr lang="en-ID" dirty="0" err="1"/>
              <a:t>Suyanto</a:t>
            </a:r>
            <a:r>
              <a:rPr lang="en-ID" dirty="0"/>
              <a:t>: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grafis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didefinisikan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keterampilan</a:t>
            </a:r>
            <a:r>
              <a:rPr lang="en-ID" dirty="0"/>
              <a:t> </a:t>
            </a:r>
            <a:r>
              <a:rPr lang="en-ID" dirty="0" err="1"/>
              <a:t>seni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komunikasi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bisnis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industri</a:t>
            </a:r>
            <a:r>
              <a:rPr lang="en-ID" dirty="0"/>
              <a:t> (yang </a:t>
            </a:r>
            <a:r>
              <a:rPr lang="en-ID" dirty="0" err="1"/>
              <a:t>biasa</a:t>
            </a:r>
            <a:r>
              <a:rPr lang="en-ID" dirty="0"/>
              <a:t> </a:t>
            </a:r>
            <a:r>
              <a:rPr lang="en-ID" dirty="0" err="1"/>
              <a:t>disebut</a:t>
            </a:r>
            <a:r>
              <a:rPr lang="en-ID" dirty="0"/>
              <a:t> </a:t>
            </a:r>
            <a:r>
              <a:rPr lang="en-ID" dirty="0" err="1"/>
              <a:t>seni</a:t>
            </a:r>
            <a:r>
              <a:rPr lang="en-ID" dirty="0"/>
              <a:t> </a:t>
            </a:r>
            <a:r>
              <a:rPr lang="en-ID" dirty="0" err="1"/>
              <a:t>komersil</a:t>
            </a:r>
            <a:r>
              <a:rPr lang="en-ID" dirty="0"/>
              <a:t>).</a:t>
            </a:r>
          </a:p>
          <a:p>
            <a:pPr fontAlgn="base"/>
            <a:r>
              <a:rPr lang="en-ID" dirty="0"/>
              <a:t>Danton </a:t>
            </a:r>
            <a:r>
              <a:rPr lang="en-ID" dirty="0" err="1"/>
              <a:t>Sihombing</a:t>
            </a:r>
            <a:r>
              <a:rPr lang="en-ID" dirty="0"/>
              <a:t>: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Grafis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mempekerjakan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marka</a:t>
            </a:r>
            <a:r>
              <a:rPr lang="en-ID" dirty="0"/>
              <a:t>, </a:t>
            </a:r>
            <a:r>
              <a:rPr lang="en-ID" dirty="0" err="1"/>
              <a:t>simbol</a:t>
            </a:r>
            <a:r>
              <a:rPr lang="en-ID" dirty="0"/>
              <a:t>, </a:t>
            </a:r>
            <a:r>
              <a:rPr lang="en-ID" dirty="0" err="1"/>
              <a:t>uraian</a:t>
            </a:r>
            <a:r>
              <a:rPr lang="en-ID" dirty="0"/>
              <a:t> verbal yang </a:t>
            </a:r>
            <a:r>
              <a:rPr lang="en-ID" dirty="0" err="1"/>
              <a:t>divisualisasikan</a:t>
            </a:r>
            <a:r>
              <a:rPr lang="en-ID" dirty="0"/>
              <a:t> </a:t>
            </a:r>
            <a:r>
              <a:rPr lang="en-ID" dirty="0" err="1"/>
              <a:t>lewat</a:t>
            </a:r>
            <a:r>
              <a:rPr lang="en-ID" dirty="0"/>
              <a:t> </a:t>
            </a:r>
            <a:r>
              <a:rPr lang="en-ID" dirty="0" err="1"/>
              <a:t>tipografi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,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teknik</a:t>
            </a:r>
            <a:r>
              <a:rPr lang="en-ID" dirty="0"/>
              <a:t> </a:t>
            </a:r>
            <a:r>
              <a:rPr lang="en-ID" dirty="0" err="1"/>
              <a:t>fotografi</a:t>
            </a:r>
            <a:r>
              <a:rPr lang="en-ID" dirty="0"/>
              <a:t> </a:t>
            </a:r>
            <a:r>
              <a:rPr lang="en-ID" dirty="0" err="1"/>
              <a:t>ataupun</a:t>
            </a:r>
            <a:r>
              <a:rPr lang="en-ID" dirty="0"/>
              <a:t> </a:t>
            </a:r>
            <a:r>
              <a:rPr lang="en-ID" dirty="0" err="1"/>
              <a:t>ilustrasi</a:t>
            </a:r>
            <a:endParaRPr lang="en-ID" dirty="0"/>
          </a:p>
          <a:p>
            <a:pPr fontAlgn="base"/>
            <a:r>
              <a:rPr lang="en-ID" dirty="0"/>
              <a:t>Jessica Helfand: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Grafis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kombinasi</a:t>
            </a:r>
            <a:r>
              <a:rPr lang="en-ID" dirty="0"/>
              <a:t> yang </a:t>
            </a:r>
            <a:r>
              <a:rPr lang="en-ID" dirty="0" err="1"/>
              <a:t>kompleks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, </a:t>
            </a:r>
            <a:r>
              <a:rPr lang="en-ID" dirty="0" err="1"/>
              <a:t>angka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grafik</a:t>
            </a:r>
            <a:r>
              <a:rPr lang="en-ID" dirty="0"/>
              <a:t>, </a:t>
            </a:r>
            <a:r>
              <a:rPr lang="en-ID" dirty="0" err="1"/>
              <a:t>foto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ilustrasi</a:t>
            </a:r>
            <a:r>
              <a:rPr lang="en-ID" dirty="0"/>
              <a:t> yang </a:t>
            </a:r>
            <a:r>
              <a:rPr lang="en-ID" dirty="0" err="1"/>
              <a:t>membutuhkan</a:t>
            </a:r>
            <a:r>
              <a:rPr lang="en-ID" dirty="0"/>
              <a:t> </a:t>
            </a:r>
            <a:r>
              <a:rPr lang="en-ID" dirty="0" err="1"/>
              <a:t>pemikiran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seseorang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menggabungkan</a:t>
            </a:r>
            <a:r>
              <a:rPr lang="en-ID" dirty="0"/>
              <a:t> </a:t>
            </a:r>
            <a:r>
              <a:rPr lang="en-ID" dirty="0" err="1"/>
              <a:t>elemen-elemen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sesuatu</a:t>
            </a:r>
            <a:r>
              <a:rPr lang="en-ID" dirty="0"/>
              <a:t> yang </a:t>
            </a:r>
            <a:r>
              <a:rPr lang="en-ID" dirty="0" err="1"/>
              <a:t>unik</a:t>
            </a:r>
            <a:r>
              <a:rPr lang="en-ID" dirty="0"/>
              <a:t>, </a:t>
            </a:r>
            <a:r>
              <a:rPr lang="en-ID" dirty="0" err="1"/>
              <a:t>sangat</a:t>
            </a:r>
            <a:r>
              <a:rPr lang="en-ID" dirty="0"/>
              <a:t> </a:t>
            </a:r>
            <a:r>
              <a:rPr lang="en-ID" dirty="0" err="1"/>
              <a:t>berguna</a:t>
            </a:r>
            <a:r>
              <a:rPr lang="en-ID" dirty="0"/>
              <a:t>, </a:t>
            </a:r>
            <a:r>
              <a:rPr lang="en-ID" dirty="0" err="1"/>
              <a:t>mengejutkan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subversif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diingat</a:t>
            </a:r>
            <a:r>
              <a:rPr lang="en-ID" dirty="0"/>
              <a:t>.</a:t>
            </a:r>
          </a:p>
          <a:p>
            <a:pPr fontAlgn="base"/>
            <a:r>
              <a:rPr lang="en-ID" dirty="0" err="1"/>
              <a:t>Preble</a:t>
            </a:r>
            <a:r>
              <a:rPr lang="en-ID" dirty="0"/>
              <a:t> &amp; Sarah: </a:t>
            </a:r>
            <a:r>
              <a:rPr lang="en-ID" i="1" dirty="0"/>
              <a:t>Graphic Design</a:t>
            </a:r>
            <a:r>
              <a:rPr lang="en-ID" dirty="0"/>
              <a:t> 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Grafis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istilah</a:t>
            </a:r>
            <a:r>
              <a:rPr lang="en-ID" dirty="0"/>
              <a:t> </a:t>
            </a:r>
            <a:r>
              <a:rPr lang="en-ID" dirty="0" err="1"/>
              <a:t>penamaan</a:t>
            </a:r>
            <a:r>
              <a:rPr lang="en-ID" dirty="0"/>
              <a:t> yang </a:t>
            </a:r>
            <a:r>
              <a:rPr lang="en-ID" dirty="0" err="1"/>
              <a:t>mengacu</a:t>
            </a:r>
            <a:r>
              <a:rPr lang="en-ID" dirty="0"/>
              <a:t> </a:t>
            </a:r>
            <a:r>
              <a:rPr lang="en-ID" dirty="0" err="1"/>
              <a:t>pada</a:t>
            </a:r>
            <a:r>
              <a:rPr lang="en-ID" dirty="0"/>
              <a:t> </a:t>
            </a:r>
            <a:r>
              <a:rPr lang="en-ID" dirty="0" err="1"/>
              <a:t>latar</a:t>
            </a:r>
            <a:r>
              <a:rPr lang="en-ID" dirty="0"/>
              <a:t> </a:t>
            </a:r>
            <a:r>
              <a:rPr lang="en-ID" dirty="0" err="1"/>
              <a:t>dwimatra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dua</a:t>
            </a:r>
            <a:r>
              <a:rPr lang="en-ID" dirty="0"/>
              <a:t> </a:t>
            </a:r>
            <a:r>
              <a:rPr lang="en-ID" dirty="0" err="1"/>
              <a:t>dimensi</a:t>
            </a:r>
            <a:r>
              <a:rPr lang="en-ID" dirty="0"/>
              <a:t> (2d) yang </a:t>
            </a:r>
            <a:r>
              <a:rPr lang="en-ID" dirty="0" err="1"/>
              <a:t>bervariasi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format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kompleksitasnya</a:t>
            </a:r>
            <a:r>
              <a:rPr lang="en-ID" dirty="0"/>
              <a:t> (</a:t>
            </a:r>
            <a:r>
              <a:rPr lang="en-ID" dirty="0" err="1"/>
              <a:t>Preble</a:t>
            </a:r>
            <a:r>
              <a:rPr lang="en-ID" dirty="0"/>
              <a:t>, Duane and  Sarah,1985:211).</a:t>
            </a:r>
          </a:p>
          <a:p>
            <a:pPr fontAlgn="base"/>
            <a:r>
              <a:rPr lang="en-ID" dirty="0"/>
              <a:t>Blanchard: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Grafis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seni</a:t>
            </a:r>
            <a:r>
              <a:rPr lang="en-ID" dirty="0"/>
              <a:t> </a:t>
            </a:r>
            <a:r>
              <a:rPr lang="en-ID" dirty="0" err="1"/>
              <a:t>komunikatif</a:t>
            </a:r>
            <a:r>
              <a:rPr lang="en-ID" dirty="0"/>
              <a:t> yang </a:t>
            </a:r>
            <a:r>
              <a:rPr lang="en-ID" dirty="0" err="1"/>
              <a:t>berhubungan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industri</a:t>
            </a:r>
            <a:r>
              <a:rPr lang="en-ID" dirty="0"/>
              <a:t>, </a:t>
            </a:r>
            <a:r>
              <a:rPr lang="en-ID" dirty="0" err="1"/>
              <a:t>seni</a:t>
            </a:r>
            <a:r>
              <a:rPr lang="en-ID" dirty="0"/>
              <a:t>, </a:t>
            </a:r>
            <a:r>
              <a:rPr lang="en-ID" dirty="0" err="1"/>
              <a:t>dan</a:t>
            </a:r>
            <a:r>
              <a:rPr lang="en-ID" dirty="0"/>
              <a:t> proses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gambaran</a:t>
            </a:r>
            <a:r>
              <a:rPr lang="en-ID" dirty="0"/>
              <a:t> visual </a:t>
            </a:r>
            <a:r>
              <a:rPr lang="en-ID" dirty="0" err="1"/>
              <a:t>pada</a:t>
            </a:r>
            <a:r>
              <a:rPr lang="en-ID" dirty="0"/>
              <a:t> </a:t>
            </a:r>
            <a:r>
              <a:rPr lang="en-ID" dirty="0" err="1"/>
              <a:t>segala</a:t>
            </a:r>
            <a:r>
              <a:rPr lang="en-ID" dirty="0"/>
              <a:t> </a:t>
            </a:r>
            <a:r>
              <a:rPr lang="en-ID" dirty="0" err="1"/>
              <a:t>permukaan</a:t>
            </a:r>
            <a:r>
              <a:rPr lang="en-ID" dirty="0"/>
              <a:t>.</a:t>
            </a:r>
          </a:p>
          <a:p>
            <a:pPr fontAlgn="base"/>
            <a:r>
              <a:rPr lang="en-ID" dirty="0"/>
              <a:t>Warren: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Grafis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“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terjemahan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ide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kedalam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urutan</a:t>
            </a:r>
            <a:r>
              <a:rPr lang="en-ID" dirty="0"/>
              <a:t> </a:t>
            </a:r>
            <a:r>
              <a:rPr lang="en-ID" dirty="0" err="1"/>
              <a:t>struktural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visual”.</a:t>
            </a:r>
          </a:p>
          <a:p>
            <a:pPr fontAlgn="base"/>
            <a:endParaRPr lang="en-ID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038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06654-DE65-1245-98D4-F8D0803FE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ID" dirty="0" err="1"/>
              <a:t>Jadi</a:t>
            </a:r>
            <a:r>
              <a:rPr lang="en-ID" dirty="0"/>
              <a:t> </a:t>
            </a:r>
            <a:r>
              <a:rPr lang="en-ID" dirty="0" err="1"/>
              <a:t>Pengertian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Grafis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?</a:t>
            </a:r>
            <a:br>
              <a:rPr lang="en-ID" dirty="0"/>
            </a:br>
            <a:br>
              <a:rPr lang="en-ID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92133-10BE-0349-8FD0-F0D3FEDC3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akhirnya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disimpulkan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grafis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multidisiplin</a:t>
            </a:r>
            <a:r>
              <a:rPr lang="en-US" dirty="0"/>
              <a:t> yang </a:t>
            </a:r>
            <a:r>
              <a:rPr lang="en-US" dirty="0" err="1"/>
              <a:t>kebanyakan</a:t>
            </a:r>
            <a:r>
              <a:rPr lang="en-US" dirty="0"/>
              <a:t> </a:t>
            </a:r>
            <a:r>
              <a:rPr lang="en-US" dirty="0" err="1"/>
              <a:t>melibatkan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Rupa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Komunikasi</a:t>
            </a:r>
            <a:r>
              <a:rPr lang="en-US" dirty="0"/>
              <a:t>. </a:t>
            </a:r>
            <a:r>
              <a:rPr lang="en-US" dirty="0" err="1"/>
              <a:t>Cakupannya</a:t>
            </a:r>
            <a:r>
              <a:rPr lang="en-US" dirty="0"/>
              <a:t> juga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luas</a:t>
            </a:r>
            <a:r>
              <a:rPr lang="en-US" dirty="0"/>
              <a:t>,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komunikasi</a:t>
            </a:r>
            <a:r>
              <a:rPr lang="en-US" dirty="0"/>
              <a:t> visual </a:t>
            </a:r>
            <a:r>
              <a:rPr lang="en-US" dirty="0" err="1"/>
              <a:t>lainnya</a:t>
            </a:r>
            <a:r>
              <a:rPr lang="en-US" dirty="0"/>
              <a:t>. Media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dijamah</a:t>
            </a:r>
            <a:r>
              <a:rPr lang="en-US" dirty="0"/>
              <a:t> juga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,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media </a:t>
            </a:r>
            <a:r>
              <a:rPr lang="en-US" dirty="0" err="1"/>
              <a:t>cetak</a:t>
            </a:r>
            <a:r>
              <a:rPr lang="en-US" dirty="0"/>
              <a:t> </a:t>
            </a:r>
            <a:r>
              <a:rPr lang="en-US" dirty="0" err="1"/>
              <a:t>ataupun</a:t>
            </a:r>
            <a:r>
              <a:rPr lang="en-US" dirty="0"/>
              <a:t> non-</a:t>
            </a:r>
            <a:r>
              <a:rPr lang="en-US" dirty="0" err="1"/>
              <a:t>cetak</a:t>
            </a:r>
            <a:r>
              <a:rPr lang="en-US" dirty="0"/>
              <a:t>.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, </a:t>
            </a:r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grafis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dikenakan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fisik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psikis</a:t>
            </a:r>
            <a:r>
              <a:rPr lang="en-US" dirty="0"/>
              <a:t>. </a:t>
            </a:r>
            <a:r>
              <a:rPr lang="en-US" dirty="0" err="1"/>
              <a:t>Selain</a:t>
            </a:r>
            <a:r>
              <a:rPr lang="en-US" dirty="0"/>
              <a:t> </a:t>
            </a:r>
            <a:r>
              <a:rPr lang="en-US" dirty="0" err="1"/>
              <a:t>merujuk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keilmuan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proses, </a:t>
            </a:r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grafis</a:t>
            </a:r>
            <a:r>
              <a:rPr lang="en-US" dirty="0"/>
              <a:t> juga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benda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yang </a:t>
            </a:r>
            <a:r>
              <a:rPr lang="en-US" dirty="0" err="1"/>
              <a:t>dihasilkannya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8454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39E51-4077-7942-8192-B9BBB46E3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Referensi</a:t>
            </a:r>
            <a:br>
              <a:rPr lang="en-ID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BEA25-9EFA-304C-9D28-CD7937808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Preble</a:t>
            </a:r>
            <a:r>
              <a:rPr lang="en-ID" dirty="0"/>
              <a:t>, Duane and (1985), Artforms, Harper and Row Publishers, Inc., New York.</a:t>
            </a:r>
          </a:p>
          <a:p>
            <a:r>
              <a:rPr lang="en-ID" dirty="0" err="1"/>
              <a:t>Suyanto</a:t>
            </a:r>
            <a:r>
              <a:rPr lang="en-ID" dirty="0"/>
              <a:t>. (2004),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Grafis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Periklanan</a:t>
            </a:r>
            <a:r>
              <a:rPr lang="en-ID" dirty="0"/>
              <a:t>. Andi, Yogyakarta. (</a:t>
            </a:r>
            <a:r>
              <a:rPr lang="en-ID" u="sng" dirty="0">
                <a:hlinkClick r:id="rId2"/>
              </a:rPr>
              <a:t>Tautan Buku</a:t>
            </a:r>
            <a:r>
              <a:rPr lang="en-ID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22570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38</TotalTime>
  <Words>769</Words>
  <Application>Microsoft Macintosh PowerPoint</Application>
  <PresentationFormat>On-screen Show (4:3)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Desain Grafis</vt:lpstr>
      <vt:lpstr>PowerPoint Presentation</vt:lpstr>
      <vt:lpstr>Pengertian Desain Grafis </vt:lpstr>
      <vt:lpstr>PowerPoint Presentation</vt:lpstr>
      <vt:lpstr>PowerPoint Presentation</vt:lpstr>
      <vt:lpstr>Pengertian Desain Grafis berdasarkan Tujuan &amp; Fungsinya </vt:lpstr>
      <vt:lpstr>PowerPoint Presentation</vt:lpstr>
      <vt:lpstr>PowerPoint Presentation</vt:lpstr>
      <vt:lpstr>Pengertian Desain</vt:lpstr>
      <vt:lpstr>Pengertian Grafis </vt:lpstr>
      <vt:lpstr>Pengertian Desain Grafis menurut para Ahli  </vt:lpstr>
      <vt:lpstr>Jadi Pengertian Desain Grafis itu Apa?  </vt:lpstr>
      <vt:lpstr>Referensi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Desain Grafis</dc:title>
  <dc:creator>Microsoft Office User</dc:creator>
  <cp:lastModifiedBy>Microsoft Office User</cp:lastModifiedBy>
  <cp:revision>4</cp:revision>
  <dcterms:created xsi:type="dcterms:W3CDTF">2020-09-28T23:30:34Z</dcterms:created>
  <dcterms:modified xsi:type="dcterms:W3CDTF">2020-09-29T00:08:49Z</dcterms:modified>
</cp:coreProperties>
</file>